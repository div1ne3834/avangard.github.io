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3" r:id="rId4"/>
    <p:sldId id="267" r:id="rId5"/>
    <p:sldId id="280" r:id="rId6"/>
    <p:sldId id="284" r:id="rId7"/>
    <p:sldId id="276" r:id="rId8"/>
    <p:sldId id="285" r:id="rId9"/>
    <p:sldId id="281" r:id="rId10"/>
    <p:sldId id="286" r:id="rId11"/>
    <p:sldId id="282" r:id="rId12"/>
    <p:sldId id="287" r:id="rId13"/>
    <p:sldId id="283" r:id="rId14"/>
    <p:sldId id="288" r:id="rId15"/>
    <p:sldId id="262" r:id="rId16"/>
    <p:sldId id="269" r:id="rId17"/>
    <p:sldId id="268" r:id="rId18"/>
    <p:sldId id="266" r:id="rId19"/>
    <p:sldId id="261" r:id="rId20"/>
    <p:sldId id="277" r:id="rId21"/>
    <p:sldId id="278" r:id="rId22"/>
    <p:sldId id="291" r:id="rId23"/>
    <p:sldId id="296" r:id="rId24"/>
    <p:sldId id="294" r:id="rId25"/>
    <p:sldId id="295" r:id="rId26"/>
    <p:sldId id="297" r:id="rId27"/>
    <p:sldId id="289" r:id="rId28"/>
    <p:sldId id="274" r:id="rId29"/>
    <p:sldId id="279" r:id="rId30"/>
    <p:sldId id="290" r:id="rId31"/>
    <p:sldId id="275" r:id="rId32"/>
    <p:sldId id="264" r:id="rId3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Светлый стиль 3 - акцент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DF18680-E054-41AD-8BC1-D1AEF772440D}" styleName="Средний стиль 2 -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Средний стиль 4 -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-754" y="-14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17DDC-EE03-41EE-90DD-2719DB50F801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8F632-FCDA-4BD6-9A65-C21BA30D6FE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5279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17DDC-EE03-41EE-90DD-2719DB50F801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8F632-FCDA-4BD6-9A65-C21BA30D6FE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3101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17DDC-EE03-41EE-90DD-2719DB50F801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8F632-FCDA-4BD6-9A65-C21BA30D6FE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3743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17DDC-EE03-41EE-90DD-2719DB50F801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8F632-FCDA-4BD6-9A65-C21BA30D6FE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2331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17DDC-EE03-41EE-90DD-2719DB50F801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8F632-FCDA-4BD6-9A65-C21BA30D6FE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0602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17DDC-EE03-41EE-90DD-2719DB50F801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8F632-FCDA-4BD6-9A65-C21BA30D6FE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3541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17DDC-EE03-41EE-90DD-2719DB50F801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8F632-FCDA-4BD6-9A65-C21BA30D6FE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3617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17DDC-EE03-41EE-90DD-2719DB50F801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8F632-FCDA-4BD6-9A65-C21BA30D6FE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4291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17DDC-EE03-41EE-90DD-2719DB50F801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8F632-FCDA-4BD6-9A65-C21BA30D6FE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1084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17DDC-EE03-41EE-90DD-2719DB50F801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8F632-FCDA-4BD6-9A65-C21BA30D6FE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3331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17DDC-EE03-41EE-90DD-2719DB50F801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8F632-FCDA-4BD6-9A65-C21BA30D6FE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0904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017DDC-EE03-41EE-90DD-2719DB50F801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C8F632-FCDA-4BD6-9A65-C21BA30D6FE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7878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3.wdp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microsoft.com/office/2007/relationships/hdphoto" Target="../media/hdphoto5.wdp"/><Relationship Id="rId7" Type="http://schemas.microsoft.com/office/2007/relationships/hdphoto" Target="../media/hdphoto7.wdp"/><Relationship Id="rId12" Type="http://schemas.openxmlformats.org/officeDocument/2006/relationships/slide" Target="slide3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eg"/><Relationship Id="rId11" Type="http://schemas.microsoft.com/office/2007/relationships/hdphoto" Target="../media/hdphoto9.wdp"/><Relationship Id="rId5" Type="http://schemas.microsoft.com/office/2007/relationships/hdphoto" Target="../media/hdphoto6.wdp"/><Relationship Id="rId10" Type="http://schemas.openxmlformats.org/officeDocument/2006/relationships/image" Target="../media/image17.png"/><Relationship Id="rId4" Type="http://schemas.openxmlformats.org/officeDocument/2006/relationships/image" Target="../media/image14.jpeg"/><Relationship Id="rId9" Type="http://schemas.microsoft.com/office/2007/relationships/hdphoto" Target="../media/hdphoto8.wdp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7" Type="http://schemas.openxmlformats.org/officeDocument/2006/relationships/image" Target="../media/image22.jpe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eg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12.wdp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13.wdp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14.wdp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microsoft.com/office/2007/relationships/hdphoto" Target="../media/hdphoto15.wdp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7000"/>
                    </a14:imgEffect>
                    <a14:imgEffect>
                      <a14:saturation sat="5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1" y="-2666999"/>
            <a:ext cx="6857999" cy="12192001"/>
          </a:xfrm>
          <a:prstGeom prst="rect">
            <a:avLst/>
          </a:prstGeom>
          <a:effectLst>
            <a:outerShdw blurRad="50800" dist="50800" dir="5400000" sx="1000" sy="1000" algn="ctr" rotWithShape="0">
              <a:srgbClr val="000000">
                <a:alpha val="94000"/>
              </a:srgbClr>
            </a:outerShdw>
          </a:effectLst>
        </p:spPr>
      </p:pic>
      <p:sp>
        <p:nvSpPr>
          <p:cNvPr id="4" name="Прямоугольник 3"/>
          <p:cNvSpPr/>
          <p:nvPr/>
        </p:nvSpPr>
        <p:spPr>
          <a:xfrm>
            <a:off x="0" y="2543175"/>
            <a:ext cx="12192000" cy="191452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0" y="2551838"/>
            <a:ext cx="12192000" cy="19389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6000" b="1" i="1" cap="none" spc="0" dirty="0" smtClean="0">
                <a:ln w="17780" cmpd="sng">
                  <a:solidFill>
                    <a:schemeClr val="tx1">
                      <a:lumMod val="75000"/>
                      <a:lumOff val="25000"/>
                    </a:schemeClr>
                  </a:solidFill>
                  <a:prstDash val="solid"/>
                  <a:miter lim="800000"/>
                </a:ln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Витебский авангардный лабиринт </a:t>
            </a:r>
          </a:p>
          <a:p>
            <a:pPr algn="ctr"/>
            <a:r>
              <a:rPr lang="ru-RU" sz="6000" b="1" i="1" cap="none" spc="0" dirty="0" smtClean="0">
                <a:ln w="17780" cmpd="sng">
                  <a:solidFill>
                    <a:schemeClr val="tx1">
                      <a:lumMod val="75000"/>
                      <a:lumOff val="25000"/>
                    </a:schemeClr>
                  </a:solidFill>
                  <a:prstDash val="solid"/>
                  <a:miter lim="800000"/>
                </a:ln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Эля Лисицкого</a:t>
            </a:r>
            <a:endParaRPr lang="ru-RU" sz="6000" b="1" i="1" cap="none" spc="0" dirty="0">
              <a:ln w="17780" cmpd="sng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800000"/>
              </a:ln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5736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85725" cy="283845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5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5">
                  <a:lumMod val="60000"/>
                  <a:lumOff val="40000"/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12106275" y="4019550"/>
            <a:ext cx="85725" cy="283845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5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5">
                  <a:lumMod val="60000"/>
                  <a:lumOff val="40000"/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 rot="5400000">
            <a:off x="1420415" y="-1377549"/>
            <a:ext cx="83346" cy="283845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5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5">
                  <a:lumMod val="60000"/>
                  <a:lumOff val="40000"/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 rot="5400000">
            <a:off x="10645377" y="5391153"/>
            <a:ext cx="83346" cy="283845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5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5">
                  <a:lumMod val="60000"/>
                  <a:lumOff val="40000"/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Горизонтальный свиток 5"/>
          <p:cNvSpPr/>
          <p:nvPr/>
        </p:nvSpPr>
        <p:spPr>
          <a:xfrm>
            <a:off x="4486275" y="83349"/>
            <a:ext cx="7505700" cy="1764501"/>
          </a:xfrm>
          <a:prstGeom prst="horizontalScroll">
            <a:avLst/>
          </a:prstGeom>
          <a:solidFill>
            <a:schemeClr val="accent5">
              <a:lumMod val="20000"/>
              <a:lumOff val="80000"/>
              <a:alpha val="64000"/>
            </a:schemeClr>
          </a:solidFill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4610100" y="457767"/>
            <a:ext cx="72580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000" b="1" i="1" dirty="0" smtClean="0">
                <a:latin typeface="Times New Roman" pitchFamily="18" charset="0"/>
                <a:cs typeface="Times New Roman" pitchFamily="18" charset="0"/>
              </a:rPr>
              <a:t>Вводное задание</a:t>
            </a:r>
            <a:endParaRPr lang="ru-RU" sz="6000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66875" y="3009900"/>
            <a:ext cx="893445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Clr>
                <a:schemeClr val="accent5">
                  <a:lumMod val="75000"/>
                </a:schemeClr>
              </a:buClr>
              <a:buSzPct val="197000"/>
              <a:buFont typeface="Arial" pitchFamily="34" charset="0"/>
              <a:buChar char="•"/>
            </a:pPr>
            <a:r>
              <a:rPr lang="ru-RU" sz="6600" i="1" dirty="0" smtClean="0">
                <a:latin typeface="Times New Roman" pitchFamily="18" charset="0"/>
                <a:cs typeface="Times New Roman" pitchFamily="18" charset="0"/>
              </a:rPr>
              <a:t>Что такое авангард?</a:t>
            </a:r>
            <a:endParaRPr lang="ru-RU" sz="66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-1" y="5444430"/>
            <a:ext cx="7086601" cy="1384995"/>
          </a:xfrm>
          <a:prstGeom prst="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2800" i="1" dirty="0" smtClean="0">
                <a:latin typeface="Times New Roman" pitchFamily="18" charset="0"/>
                <a:cs typeface="Times New Roman" pitchFamily="18" charset="0"/>
              </a:rPr>
              <a:t>Баллы начисляются </a:t>
            </a:r>
            <a:r>
              <a:rPr lang="ru-RU" sz="2800" i="1" dirty="0">
                <a:latin typeface="Times New Roman" pitchFamily="18" charset="0"/>
                <a:cs typeface="Times New Roman" pitchFamily="18" charset="0"/>
              </a:rPr>
              <a:t>от 0 до 5 (в зависимости от развёрнутости и правильности ответа).</a:t>
            </a:r>
          </a:p>
        </p:txBody>
      </p:sp>
    </p:spTree>
    <p:extLst>
      <p:ext uri="{BB962C8B-B14F-4D97-AF65-F5344CB8AC3E}">
        <p14:creationId xmlns:p14="http://schemas.microsoft.com/office/powerpoint/2010/main" val="2944725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193"/>
          <a:stretch/>
        </p:blipFill>
        <p:spPr>
          <a:xfrm>
            <a:off x="0" y="4229100"/>
            <a:ext cx="7950200" cy="2628900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130" t="41193"/>
          <a:stretch/>
        </p:blipFill>
        <p:spPr>
          <a:xfrm rot="10800000">
            <a:off x="7750173" y="3552824"/>
            <a:ext cx="4441825" cy="33051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" y="1182944"/>
            <a:ext cx="12191998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b="1" i="1" dirty="0">
                <a:solidFill>
                  <a:schemeClr val="accent5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Авангард</a:t>
            </a:r>
            <a:r>
              <a:rPr lang="ru-RU" sz="36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600" i="1" dirty="0">
                <a:latin typeface="Times New Roman" pitchFamily="18" charset="0"/>
                <a:cs typeface="Times New Roman" pitchFamily="18" charset="0"/>
              </a:rPr>
              <a:t>– это направление в искусстве и культуре, характеризующееся стремлением к новаторству, отказу от традиционных форм и поиска принципиально новых способов выражения</a:t>
            </a:r>
            <a:r>
              <a:rPr lang="ru-RU" sz="3600" i="1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3600" i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0532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85725" cy="283845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5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5">
                  <a:lumMod val="60000"/>
                  <a:lumOff val="40000"/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 rot="5400000">
            <a:off x="1420415" y="-1377549"/>
            <a:ext cx="83346" cy="283845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5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5">
                  <a:lumMod val="60000"/>
                  <a:lumOff val="40000"/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12106275" y="4019550"/>
            <a:ext cx="85725" cy="283845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5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5">
                  <a:lumMod val="60000"/>
                  <a:lumOff val="40000"/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 rot="5400000">
            <a:off x="10645377" y="5391153"/>
            <a:ext cx="83346" cy="283845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5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5">
                  <a:lumMod val="60000"/>
                  <a:lumOff val="40000"/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1866900" y="552450"/>
            <a:ext cx="8686800" cy="66479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Различают следующие направления авангарда в искусстве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marL="285750" lvl="0" indent="-285750" algn="ctr">
              <a:buClr>
                <a:schemeClr val="accent5">
                  <a:lumMod val="75000"/>
                </a:schemeClr>
              </a:buClr>
              <a:buSzPct val="187000"/>
              <a:buFont typeface="Arial" pitchFamily="34" charset="0"/>
              <a:buChar char="•"/>
            </a:pP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футуризм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;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285750" lvl="0" indent="-285750" algn="ctr">
              <a:buClr>
                <a:schemeClr val="accent5">
                  <a:lumMod val="75000"/>
                </a:schemeClr>
              </a:buClr>
              <a:buSzPct val="187000"/>
              <a:buFont typeface="Arial" pitchFamily="34" charset="0"/>
              <a:buChar char="•"/>
            </a:pPr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marL="285750" lvl="0" indent="-285750" algn="ctr">
              <a:buClr>
                <a:schemeClr val="accent5">
                  <a:lumMod val="75000"/>
                </a:schemeClr>
              </a:buClr>
              <a:buSzPct val="187000"/>
              <a:buFont typeface="Arial" pitchFamily="34" charset="0"/>
              <a:buChar char="•"/>
            </a:pP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сюрреализм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;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285750" lvl="0" indent="-285750" algn="ctr">
              <a:buClr>
                <a:schemeClr val="accent5">
                  <a:lumMod val="75000"/>
                </a:schemeClr>
              </a:buClr>
              <a:buSzPct val="187000"/>
              <a:buFont typeface="Arial" pitchFamily="34" charset="0"/>
              <a:buChar char="•"/>
            </a:pPr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marL="285750" lvl="0" indent="-285750" algn="ctr">
              <a:buClr>
                <a:schemeClr val="accent5">
                  <a:lumMod val="75000"/>
                </a:schemeClr>
              </a:buClr>
              <a:buSzPct val="187000"/>
              <a:buFont typeface="Arial" pitchFamily="34" charset="0"/>
              <a:buChar char="•"/>
            </a:pP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дадаизм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;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285750" lvl="0" indent="-285750" algn="ctr">
              <a:buClr>
                <a:schemeClr val="accent5">
                  <a:lumMod val="75000"/>
                </a:schemeClr>
              </a:buClr>
              <a:buSzPct val="187000"/>
              <a:buFont typeface="Arial" pitchFamily="34" charset="0"/>
              <a:buChar char="•"/>
            </a:pPr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marL="285750" lvl="0" indent="-285750" algn="ctr">
              <a:buClr>
                <a:schemeClr val="accent5">
                  <a:lumMod val="75000"/>
                </a:schemeClr>
              </a:buClr>
              <a:buSzPct val="187000"/>
              <a:buFont typeface="Arial" pitchFamily="34" charset="0"/>
              <a:buChar char="•"/>
            </a:pP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кубизм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;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285750" lvl="0" indent="-285750" algn="ctr">
              <a:buClr>
                <a:schemeClr val="accent5">
                  <a:lumMod val="75000"/>
                </a:schemeClr>
              </a:buClr>
              <a:buSzPct val="187000"/>
              <a:buFont typeface="Arial" pitchFamily="34" charset="0"/>
              <a:buChar char="•"/>
            </a:pPr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marL="285750" lvl="0" indent="-285750" algn="ctr">
              <a:buClr>
                <a:schemeClr val="accent5">
                  <a:lumMod val="75000"/>
                </a:schemeClr>
              </a:buClr>
              <a:buSzPct val="187000"/>
              <a:buFont typeface="Arial" pitchFamily="34" charset="0"/>
              <a:buChar char="•"/>
            </a:pP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всёчество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;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285750" lvl="0" indent="-285750" algn="ctr">
              <a:buClr>
                <a:schemeClr val="accent5">
                  <a:lumMod val="75000"/>
                </a:schemeClr>
              </a:buClr>
              <a:buSzPct val="187000"/>
              <a:buFont typeface="Arial" pitchFamily="34" charset="0"/>
              <a:buChar char="•"/>
            </a:pPr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marL="285750" lvl="0" indent="-285750" algn="ctr">
              <a:buClr>
                <a:schemeClr val="accent5">
                  <a:lumMod val="75000"/>
                </a:schemeClr>
              </a:buClr>
              <a:buSzPct val="187000"/>
              <a:buFont typeface="Arial" pitchFamily="34" charset="0"/>
              <a:buChar char="•"/>
            </a:pP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конструктивизм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;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285750" lvl="0" indent="-285750" algn="ctr">
              <a:buClr>
                <a:schemeClr val="accent5">
                  <a:lumMod val="75000"/>
                </a:schemeClr>
              </a:buClr>
              <a:buSzPct val="187000"/>
              <a:buFont typeface="Arial" pitchFamily="34" charset="0"/>
              <a:buChar char="•"/>
            </a:pPr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marL="285750" lvl="0" indent="-285750" algn="ctr">
              <a:buClr>
                <a:schemeClr val="accent5">
                  <a:lumMod val="75000"/>
                </a:schemeClr>
              </a:buClr>
              <a:buSzPct val="187000"/>
              <a:buFont typeface="Arial" pitchFamily="34" charset="0"/>
              <a:buChar char="•"/>
            </a:pP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космизм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285750" lvl="0" indent="-285750" algn="ctr">
              <a:buClr>
                <a:schemeClr val="accent5">
                  <a:lumMod val="75000"/>
                </a:schemeClr>
              </a:buClr>
              <a:buSzPct val="187000"/>
              <a:buFont typeface="Arial" pitchFamily="34" charset="0"/>
              <a:buChar char="•"/>
            </a:pPr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lvl="0" algn="ctr">
              <a:buClr>
                <a:schemeClr val="accent5">
                  <a:lumMod val="75000"/>
                </a:schemeClr>
              </a:buClr>
              <a:buSzPct val="187000"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и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др.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58843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Горизонтальный свиток 3"/>
          <p:cNvSpPr/>
          <p:nvPr/>
        </p:nvSpPr>
        <p:spPr>
          <a:xfrm>
            <a:off x="123825" y="1"/>
            <a:ext cx="7505700" cy="1581150"/>
          </a:xfrm>
          <a:prstGeom prst="horizontalScroll">
            <a:avLst/>
          </a:prstGeom>
          <a:solidFill>
            <a:schemeClr val="accent5">
              <a:lumMod val="20000"/>
              <a:lumOff val="80000"/>
              <a:alpha val="64000"/>
            </a:schemeClr>
          </a:solidFill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247650" y="282744"/>
            <a:ext cx="72580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000" b="1" i="1" dirty="0" smtClean="0">
                <a:latin typeface="Times New Roman" pitchFamily="18" charset="0"/>
                <a:cs typeface="Times New Roman" pitchFamily="18" charset="0"/>
              </a:rPr>
              <a:t>Дадаизм</a:t>
            </a:r>
            <a:endParaRPr lang="ru-RU" sz="6000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33375" y="1714500"/>
            <a:ext cx="798195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Авангардное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художественное движение начала XX века (1916–1924), возникшее как протест против логики, рациональности и культуры, которые, по мнению его участников, привели мир к Первой мировой войне.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81337" y="3422630"/>
            <a:ext cx="909637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Ключевые </a:t>
            </a:r>
            <a:r>
              <a:rPr lang="ru-RU" sz="2400" b="1" dirty="0" smtClean="0"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черты</a:t>
            </a:r>
          </a:p>
          <a:p>
            <a:pPr algn="ctr"/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- Отрицание смысла: искусство как абсурд, хаос, игра.  </a:t>
            </a:r>
          </a:p>
          <a:p>
            <a:pPr algn="ctr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- Анти-искусство: разрушение традиционных форм, пародия на классику.  </a:t>
            </a:r>
          </a:p>
          <a:p>
            <a:pPr algn="ctr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- Случайность и спонтанность: коллажи, автоматическое письмо, случайные комбинации слов.  </a:t>
            </a:r>
          </a:p>
          <a:p>
            <a:pPr algn="ctr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- Провокация: цель — шокировать, разрушить привычные ожидания.</a:t>
            </a:r>
          </a:p>
        </p:txBody>
      </p:sp>
    </p:spTree>
    <p:extLst>
      <p:ext uri="{BB962C8B-B14F-4D97-AF65-F5344CB8AC3E}">
        <p14:creationId xmlns:p14="http://schemas.microsoft.com/office/powerpoint/2010/main" val="1422637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ttps://optim.tildacdn.com/tild3134-3537-4664-b935-366139353562/-/format/webp/177de422f301c98555b8.jpg.web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020957">
            <a:off x="260349" y="419100"/>
            <a:ext cx="3603989" cy="47212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24996" y="5559436"/>
            <a:ext cx="4381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Жан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Арп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– «Коллаж по законам случая»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100" name="Picture 4" descr="https://miro.medium.com/v2/resize:fit:785/1*fszKRCrMOU0gzjxV2ojUsw.jpe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99551">
            <a:off x="5489573" y="2037508"/>
            <a:ext cx="5981700" cy="43243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654346" y="926527"/>
            <a:ext cx="438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Тео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ван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Дусбург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– «Плакат»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5072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Горизонтальный свиток 3"/>
          <p:cNvSpPr/>
          <p:nvPr/>
        </p:nvSpPr>
        <p:spPr>
          <a:xfrm>
            <a:off x="123825" y="1"/>
            <a:ext cx="7505700" cy="1581150"/>
          </a:xfrm>
          <a:prstGeom prst="horizontalScroll">
            <a:avLst/>
          </a:prstGeom>
          <a:solidFill>
            <a:schemeClr val="accent5">
              <a:lumMod val="20000"/>
              <a:lumOff val="80000"/>
              <a:alpha val="64000"/>
            </a:schemeClr>
          </a:solidFill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247650" y="282744"/>
            <a:ext cx="72580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000" b="1" i="1" dirty="0" smtClean="0">
                <a:latin typeface="Times New Roman" pitchFamily="18" charset="0"/>
                <a:cs typeface="Times New Roman" pitchFamily="18" charset="0"/>
              </a:rPr>
              <a:t>Футуризм</a:t>
            </a:r>
            <a:endParaRPr lang="ru-RU" sz="6000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52425" y="1819275"/>
            <a:ext cx="71532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Авангардное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направление начала XX века (с 1909 года), прославляющее скорость, технику, энергию, движение и разрушение прошлого.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4600" y="3019604"/>
            <a:ext cx="940117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 smtClean="0"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Ключевые черты</a:t>
            </a:r>
          </a:p>
          <a:p>
            <a:pPr algn="ctr"/>
            <a:endParaRPr lang="ru-RU" sz="2400" b="1" dirty="0" smtClean="0">
              <a:solidFill>
                <a:schemeClr val="accent5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Культ скорости и машин: автомобили, поезда, индустрия, электричество.  </a:t>
            </a:r>
          </a:p>
          <a:p>
            <a:pPr algn="ctr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- Динамика и агрессия: стремление передать движение, рывок, импульс.  </a:t>
            </a:r>
          </a:p>
          <a:p>
            <a:pPr algn="ctr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- Разрыв с традицией: отрицание прошлого, музеев, классики.  </a:t>
            </a:r>
          </a:p>
          <a:p>
            <a:pPr algn="ctr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- Новые формы: резкие линии, многократные контуры, фрагментация движения.  </a:t>
            </a:r>
          </a:p>
          <a:p>
            <a:pPr algn="ctr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- Прославление современности: город, шум, толпа, энергия будущего.</a:t>
            </a:r>
          </a:p>
        </p:txBody>
      </p:sp>
    </p:spTree>
    <p:extLst>
      <p:ext uri="{BB962C8B-B14F-4D97-AF65-F5344CB8AC3E}">
        <p14:creationId xmlns:p14="http://schemas.microsoft.com/office/powerpoint/2010/main" val="1386615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Picture background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175779">
            <a:off x="242099" y="601374"/>
            <a:ext cx="5547394" cy="42764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TextBox 2"/>
          <p:cNvSpPr txBox="1"/>
          <p:nvPr/>
        </p:nvSpPr>
        <p:spPr>
          <a:xfrm>
            <a:off x="825046" y="5216537"/>
            <a:ext cx="4381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Карло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Карра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– «Похороны анархиста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Галли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»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Рисунок 3" descr="Picture background"/>
          <p:cNvPicPr/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53592">
            <a:off x="5954779" y="2128837"/>
            <a:ext cx="5940425" cy="41814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Box 4"/>
          <p:cNvSpPr txBox="1"/>
          <p:nvPr/>
        </p:nvSpPr>
        <p:spPr>
          <a:xfrm>
            <a:off x="7130596" y="730262"/>
            <a:ext cx="4381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Джино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Северини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– «Танец Пан-Пан в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Монико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»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0429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Горизонтальный свиток 3"/>
          <p:cNvSpPr/>
          <p:nvPr/>
        </p:nvSpPr>
        <p:spPr>
          <a:xfrm>
            <a:off x="123825" y="1"/>
            <a:ext cx="7505700" cy="1581150"/>
          </a:xfrm>
          <a:prstGeom prst="horizontalScroll">
            <a:avLst/>
          </a:prstGeom>
          <a:solidFill>
            <a:schemeClr val="accent5">
              <a:lumMod val="20000"/>
              <a:lumOff val="80000"/>
              <a:alpha val="64000"/>
            </a:schemeClr>
          </a:solidFill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247650" y="282744"/>
            <a:ext cx="72580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000" b="1" i="1" dirty="0" smtClean="0">
                <a:latin typeface="Times New Roman" pitchFamily="18" charset="0"/>
                <a:cs typeface="Times New Roman" pitchFamily="18" charset="0"/>
              </a:rPr>
              <a:t>Сюрреализм</a:t>
            </a:r>
            <a:endParaRPr lang="ru-RU" sz="6000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38287" y="1581151"/>
            <a:ext cx="73056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Х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удожественное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и литературное движение 1920–1950-х годов, возникшее после Первой мировой войны.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48325" y="2570381"/>
            <a:ext cx="63912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Его цель — освободить сознание, дать говорить бессознательному, снам, иррациональному.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825" y="3380125"/>
            <a:ext cx="649605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Ключевые черты</a:t>
            </a:r>
          </a:p>
          <a:p>
            <a:pPr algn="ctr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- Сны и иррациональность: образы, лишённые логики, как во сне.   </a:t>
            </a:r>
          </a:p>
          <a:p>
            <a:pPr algn="ctr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- Автоматизм: попытка создавать без контроля разума, напрямую из подсознания.   </a:t>
            </a:r>
          </a:p>
          <a:p>
            <a:pPr algn="ctr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- Неожиданные сочетания: соединение несочетаемого, эффект «столкновения» смыслов.  </a:t>
            </a:r>
          </a:p>
          <a:p>
            <a:pPr algn="ctr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- Психоанализ: влияние Фрейда, интерес к скрытым желаниям и внутренним конфликтам.   </a:t>
            </a:r>
          </a:p>
          <a:p>
            <a:pPr algn="ctr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- Бунт против рациональности: протест против логики, норм и «здравого смысла». </a:t>
            </a:r>
          </a:p>
        </p:txBody>
      </p:sp>
    </p:spTree>
    <p:extLst>
      <p:ext uri="{BB962C8B-B14F-4D97-AF65-F5344CB8AC3E}">
        <p14:creationId xmlns:p14="http://schemas.microsoft.com/office/powerpoint/2010/main" val="3595003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Изображение с сайта ru.wikipedia.or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65588">
            <a:off x="6299200" y="339725"/>
            <a:ext cx="5238750" cy="33147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Изображение с сайта ru.wikipedia.org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789550">
            <a:off x="353731" y="2531606"/>
            <a:ext cx="5569565" cy="3688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61926" y="1166078"/>
            <a:ext cx="4381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Сальвадор Дали – «Тайная вечеря»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727825" y="4042628"/>
            <a:ext cx="438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Сальвадор Дали – «Сон»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1492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Горизонтальный свиток 3"/>
          <p:cNvSpPr/>
          <p:nvPr/>
        </p:nvSpPr>
        <p:spPr>
          <a:xfrm>
            <a:off x="123825" y="1"/>
            <a:ext cx="7505700" cy="1581150"/>
          </a:xfrm>
          <a:prstGeom prst="horizontalScroll">
            <a:avLst/>
          </a:prstGeom>
          <a:solidFill>
            <a:schemeClr val="accent5">
              <a:lumMod val="20000"/>
              <a:lumOff val="80000"/>
              <a:alpha val="64000"/>
            </a:schemeClr>
          </a:solidFill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247650" y="282744"/>
            <a:ext cx="72580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000" b="1" i="1" dirty="0" smtClean="0">
                <a:latin typeface="Times New Roman" pitchFamily="18" charset="0"/>
                <a:cs typeface="Times New Roman" pitchFamily="18" charset="0"/>
              </a:rPr>
              <a:t>Кубизм</a:t>
            </a:r>
            <a:endParaRPr lang="ru-RU" sz="6000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914400" y="1581151"/>
            <a:ext cx="73723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Авангардное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направление начала XX века (с 1907 года), созданное Пикассо и Браком.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05387" y="2400300"/>
            <a:ext cx="656272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Главная идея</a:t>
            </a:r>
          </a:p>
          <a:p>
            <a:pPr algn="ctr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Показать новый способ видения мира, где объект — это не единый ракурс, а совокупность форм, граней и точек зрения.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8175" y="3876675"/>
            <a:ext cx="736758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Ключевые черты</a:t>
            </a:r>
          </a:p>
          <a:p>
            <a:pPr algn="ctr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- Множественные ракурсы: предмет изображается сразу с нескольких сторон.  </a:t>
            </a:r>
          </a:p>
          <a:p>
            <a:pPr algn="ctr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- Геометризация формы: разбиение на плоскости, объёмы, углы.  </a:t>
            </a:r>
          </a:p>
          <a:p>
            <a:pPr algn="ctr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- Отказ от перспективы: фон и фигура сливаются, пространство «ломается».  </a:t>
            </a:r>
          </a:p>
          <a:p>
            <a:pPr algn="ctr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- Анализ и реконструкция: художник не копирует реальность, а собирает её заново. </a:t>
            </a:r>
          </a:p>
        </p:txBody>
      </p:sp>
    </p:spTree>
    <p:extLst>
      <p:ext uri="{BB962C8B-B14F-4D97-AF65-F5344CB8AC3E}">
        <p14:creationId xmlns:p14="http://schemas.microsoft.com/office/powerpoint/2010/main" val="1917518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Пабло Пикассо. Герника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47522">
            <a:off x="7294281" y="238310"/>
            <a:ext cx="4514946" cy="45149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AutoShape 5" descr="Пабло Пикассо. Женщина в берете и клетчатом платье (Мария-Тереза Вальтер)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821660">
            <a:off x="355600" y="1698527"/>
            <a:ext cx="4692650" cy="46926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911508" y="5233253"/>
            <a:ext cx="438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Пабло Пикассо – «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Герника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»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55575" y="244711"/>
            <a:ext cx="4381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Пабло Пикассо – «Женщина в берете и клетчатом платье»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2405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Горизонтальный свиток 3"/>
          <p:cNvSpPr/>
          <p:nvPr/>
        </p:nvSpPr>
        <p:spPr>
          <a:xfrm>
            <a:off x="123825" y="1"/>
            <a:ext cx="7505700" cy="1581150"/>
          </a:xfrm>
          <a:prstGeom prst="horizontalScroll">
            <a:avLst/>
          </a:prstGeom>
          <a:solidFill>
            <a:schemeClr val="accent5">
              <a:lumMod val="20000"/>
              <a:lumOff val="80000"/>
              <a:alpha val="64000"/>
            </a:schemeClr>
          </a:solidFill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247650" y="282744"/>
            <a:ext cx="72580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000" b="1" i="1" dirty="0" smtClean="0">
                <a:latin typeface="Times New Roman" pitchFamily="18" charset="0"/>
                <a:cs typeface="Times New Roman" pitchFamily="18" charset="0"/>
              </a:rPr>
              <a:t>Конструктивизм</a:t>
            </a:r>
            <a:endParaRPr lang="ru-RU" sz="6000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47650" y="1743075"/>
            <a:ext cx="7381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Авангардное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направление, возникшее в России около 1913–1915 годов.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14875" y="2353507"/>
            <a:ext cx="687705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Ключевые </a:t>
            </a:r>
            <a:r>
              <a:rPr lang="ru-RU" b="1" dirty="0" smtClean="0"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черты</a:t>
            </a:r>
          </a:p>
          <a:p>
            <a:pPr algn="ctr"/>
            <a:endParaRPr lang="ru-RU" b="1" dirty="0">
              <a:solidFill>
                <a:schemeClr val="accent5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dirty="0">
                <a:latin typeface="Times New Roman" pitchFamily="18" charset="0"/>
                <a:cs typeface="Times New Roman" pitchFamily="18" charset="0"/>
              </a:rPr>
              <a:t>- Материальность и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индустриальность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: использование железа, стекла, дерева, промышленных материалов.  </a:t>
            </a:r>
          </a:p>
          <a:p>
            <a:pPr algn="ctr"/>
            <a:r>
              <a:rPr lang="ru-RU" dirty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algn="ctr"/>
            <a:r>
              <a:rPr lang="ru-RU" dirty="0">
                <a:latin typeface="Times New Roman" pitchFamily="18" charset="0"/>
                <a:cs typeface="Times New Roman" pitchFamily="18" charset="0"/>
              </a:rPr>
              <a:t>- Абстракция и геометрия: строгие формы, объём, конструкция.  </a:t>
            </a:r>
          </a:p>
          <a:p>
            <a:pPr algn="ctr"/>
            <a:r>
              <a:rPr lang="ru-RU" dirty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algn="ctr"/>
            <a:r>
              <a:rPr lang="ru-RU" dirty="0">
                <a:latin typeface="Times New Roman" pitchFamily="18" charset="0"/>
                <a:cs typeface="Times New Roman" pitchFamily="18" charset="0"/>
              </a:rPr>
              <a:t>- Отказ от декоративности: никакой «красоты ради красоты» — только функциональность.  </a:t>
            </a:r>
          </a:p>
          <a:p>
            <a:pPr algn="ctr"/>
            <a:r>
              <a:rPr lang="ru-RU" dirty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algn="ctr"/>
            <a:r>
              <a:rPr lang="ru-RU" dirty="0">
                <a:latin typeface="Times New Roman" pitchFamily="18" charset="0"/>
                <a:cs typeface="Times New Roman" pitchFamily="18" charset="0"/>
              </a:rPr>
              <a:t>- Социальная направленность: искусство как инструмент строительства нового общества.  </a:t>
            </a:r>
          </a:p>
          <a:p>
            <a:pPr algn="ctr"/>
            <a:r>
              <a:rPr lang="ru-RU" dirty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algn="ctr"/>
            <a:r>
              <a:rPr lang="ru-RU" dirty="0">
                <a:latin typeface="Times New Roman" pitchFamily="18" charset="0"/>
                <a:cs typeface="Times New Roman" pitchFamily="18" charset="0"/>
              </a:rPr>
              <a:t>- Связь с революцией и техникой: вера в преобразующую силу индустриальной эпохи. </a:t>
            </a:r>
          </a:p>
        </p:txBody>
      </p:sp>
    </p:spTree>
    <p:extLst>
      <p:ext uri="{BB962C8B-B14F-4D97-AF65-F5344CB8AC3E}">
        <p14:creationId xmlns:p14="http://schemas.microsoft.com/office/powerpoint/2010/main" val="2213863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Внимательный рабочий - Казимир Малевич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113748">
            <a:off x="426611" y="371807"/>
            <a:ext cx="4164439" cy="53146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927100" y="5883511"/>
            <a:ext cx="4381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Казимир Малевич – «Внимательный рабочий»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6" name="Picture 4" descr="Произведения по стилю: Конструктивизм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97972">
            <a:off x="7146893" y="1406466"/>
            <a:ext cx="4254317" cy="50747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7594600" y="111392"/>
            <a:ext cx="4381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Эль Лисицкий – «Новый человек»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6988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Горизонтальный свиток 1"/>
          <p:cNvSpPr/>
          <p:nvPr/>
        </p:nvSpPr>
        <p:spPr>
          <a:xfrm>
            <a:off x="133350" y="-24288"/>
            <a:ext cx="4714875" cy="1225151"/>
          </a:xfrm>
          <a:prstGeom prst="horizontalScroll">
            <a:avLst/>
          </a:prstGeom>
          <a:solidFill>
            <a:schemeClr val="accent5">
              <a:lumMod val="20000"/>
              <a:lumOff val="80000"/>
              <a:alpha val="64000"/>
            </a:schemeClr>
          </a:solidFill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200024" y="203567"/>
            <a:ext cx="458152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b="1" i="1" dirty="0" smtClean="0">
                <a:latin typeface="Times New Roman" pitchFamily="18" charset="0"/>
                <a:cs typeface="Times New Roman" pitchFamily="18" charset="0"/>
              </a:rPr>
              <a:t>Задание 1</a:t>
            </a:r>
            <a:endParaRPr lang="ru-RU" sz="4400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199" y="65068"/>
            <a:ext cx="7086601" cy="523220"/>
          </a:xfrm>
          <a:prstGeom prst="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2800" i="1" dirty="0" smtClean="0">
                <a:latin typeface="Times New Roman" pitchFamily="18" charset="0"/>
                <a:cs typeface="Times New Roman" pitchFamily="18" charset="0"/>
              </a:rPr>
              <a:t>Соотнесите изображение и стиль</a:t>
            </a:r>
            <a:endParaRPr lang="ru-RU" sz="2800" i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Рисунок 4" descr="Версаль: краткая история | Советы для туристов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7441" y="1374733"/>
            <a:ext cx="3133724" cy="1847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Рисунок 5" descr="Валентий Мельхиорович Ванькович - Портрет Адама Мицкевича на скале Аю-Даг,  1 1828, 125×148 см: Описание произведения | Артхив"/>
          <p:cNvPicPr/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5270" y="1026992"/>
            <a:ext cx="1790700" cy="219487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/>
          <p:cNvSpPr txBox="1"/>
          <p:nvPr/>
        </p:nvSpPr>
        <p:spPr>
          <a:xfrm>
            <a:off x="8867774" y="824419"/>
            <a:ext cx="3133725" cy="2397451"/>
          </a:xfrm>
          <a:prstGeom prst="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342900" lvl="0" indent="-342900" algn="ctr">
              <a:lnSpc>
                <a:spcPct val="107000"/>
              </a:lnSpc>
              <a:spcAft>
                <a:spcPts val="0"/>
              </a:spcAft>
              <a:buFont typeface="+mj-lt"/>
              <a:buAutoNum type="alphaLcParenR"/>
            </a:pPr>
            <a:r>
              <a:rPr lang="ru-RU" sz="2800" dirty="0">
                <a:latin typeface="Times New Roman" pitchFamily="18" charset="0"/>
                <a:ea typeface="Calibri"/>
                <a:cs typeface="Times New Roman" pitchFamily="18" charset="0"/>
              </a:rPr>
              <a:t>Супрематизм</a:t>
            </a:r>
            <a:endParaRPr lang="ru-RU" sz="2000" dirty="0">
              <a:latin typeface="Times New Roman" pitchFamily="18" charset="0"/>
              <a:ea typeface="Calibri"/>
              <a:cs typeface="Times New Roman" pitchFamily="18" charset="0"/>
            </a:endParaRPr>
          </a:p>
          <a:p>
            <a:pPr marL="342900" lvl="0" indent="-342900" algn="ctr">
              <a:lnSpc>
                <a:spcPct val="107000"/>
              </a:lnSpc>
              <a:spcAft>
                <a:spcPts val="0"/>
              </a:spcAft>
              <a:buFont typeface="+mj-lt"/>
              <a:buAutoNum type="alphaLcParenR"/>
            </a:pPr>
            <a:r>
              <a:rPr lang="ru-RU" sz="2800" dirty="0">
                <a:latin typeface="Times New Roman" pitchFamily="18" charset="0"/>
                <a:ea typeface="Calibri"/>
                <a:cs typeface="Times New Roman" pitchFamily="18" charset="0"/>
              </a:rPr>
              <a:t>Барокко</a:t>
            </a:r>
            <a:endParaRPr lang="ru-RU" sz="2000" dirty="0">
              <a:latin typeface="Times New Roman" pitchFamily="18" charset="0"/>
              <a:ea typeface="Calibri"/>
              <a:cs typeface="Times New Roman" pitchFamily="18" charset="0"/>
            </a:endParaRPr>
          </a:p>
          <a:p>
            <a:pPr marL="342900" lvl="0" indent="-342900" algn="ctr">
              <a:lnSpc>
                <a:spcPct val="107000"/>
              </a:lnSpc>
              <a:spcAft>
                <a:spcPts val="0"/>
              </a:spcAft>
              <a:buFont typeface="+mj-lt"/>
              <a:buAutoNum type="alphaLcParenR"/>
            </a:pPr>
            <a:r>
              <a:rPr lang="ru-RU" sz="2800" dirty="0">
                <a:latin typeface="Times New Roman" pitchFamily="18" charset="0"/>
                <a:ea typeface="Calibri"/>
                <a:cs typeface="Times New Roman" pitchFamily="18" charset="0"/>
              </a:rPr>
              <a:t>Неоготика</a:t>
            </a:r>
            <a:endParaRPr lang="ru-RU" sz="2000" dirty="0">
              <a:latin typeface="Times New Roman" pitchFamily="18" charset="0"/>
              <a:ea typeface="Calibri"/>
              <a:cs typeface="Times New Roman" pitchFamily="18" charset="0"/>
            </a:endParaRPr>
          </a:p>
          <a:p>
            <a:pPr marL="342900" lvl="0" indent="-342900" algn="ctr">
              <a:lnSpc>
                <a:spcPct val="107000"/>
              </a:lnSpc>
              <a:spcAft>
                <a:spcPts val="0"/>
              </a:spcAft>
              <a:buFont typeface="+mj-lt"/>
              <a:buAutoNum type="alphaLcParenR"/>
            </a:pPr>
            <a:r>
              <a:rPr lang="ru-RU" sz="2800" dirty="0">
                <a:latin typeface="Times New Roman" pitchFamily="18" charset="0"/>
                <a:ea typeface="Calibri"/>
                <a:cs typeface="Times New Roman" pitchFamily="18" charset="0"/>
              </a:rPr>
              <a:t>Романтизм</a:t>
            </a:r>
            <a:endParaRPr lang="ru-RU" sz="2000" dirty="0">
              <a:latin typeface="Times New Roman" pitchFamily="18" charset="0"/>
              <a:ea typeface="Calibri"/>
              <a:cs typeface="Times New Roman" pitchFamily="18" charset="0"/>
            </a:endParaRPr>
          </a:p>
          <a:p>
            <a:pPr marL="342900" lvl="0" indent="-342900" algn="ctr">
              <a:lnSpc>
                <a:spcPct val="107000"/>
              </a:lnSpc>
              <a:spcAft>
                <a:spcPts val="800"/>
              </a:spcAft>
              <a:buFont typeface="+mj-lt"/>
              <a:buAutoNum type="alphaLcParenR"/>
            </a:pPr>
            <a:r>
              <a:rPr lang="ru-RU" sz="2800" dirty="0" smtClean="0">
                <a:latin typeface="Times New Roman" pitchFamily="18" charset="0"/>
                <a:ea typeface="Calibri"/>
                <a:cs typeface="Times New Roman" pitchFamily="18" charset="0"/>
              </a:rPr>
              <a:t>Экспрессионизм</a:t>
            </a:r>
            <a:endParaRPr lang="ru-RU" sz="2000" dirty="0">
              <a:latin typeface="Times New Roman" pitchFamily="18" charset="0"/>
              <a:ea typeface="Calibri"/>
              <a:cs typeface="Times New Roman" pitchFamily="18" charset="0"/>
            </a:endParaRPr>
          </a:p>
        </p:txBody>
      </p:sp>
      <p:pic>
        <p:nvPicPr>
          <p:cNvPr id="9" name="Рисунок 8" descr="Костёл Святой Троицы в Гервятах | Троицкий костел в Гродненской области в  Беларуси — Belarus Travel"/>
          <p:cNvPicPr/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451" y="3923823"/>
            <a:ext cx="3481704" cy="2257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Рисунок 9" descr="Крик (картина Мунка) — Википедия"/>
          <p:cNvPicPr/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6374" y="3544728"/>
            <a:ext cx="1908492" cy="26596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Рисунок 10"/>
          <p:cNvPicPr/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0099" y="3346865"/>
            <a:ext cx="2705101" cy="2604821"/>
          </a:xfrm>
          <a:prstGeom prst="rect">
            <a:avLst/>
          </a:prstGeom>
          <a:noFill/>
        </p:spPr>
      </p:pic>
      <p:sp>
        <p:nvSpPr>
          <p:cNvPr id="12" name="TextBox 11"/>
          <p:cNvSpPr txBox="1"/>
          <p:nvPr/>
        </p:nvSpPr>
        <p:spPr>
          <a:xfrm>
            <a:off x="419100" y="2819400"/>
            <a:ext cx="5143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ru-RU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743449" y="2710190"/>
            <a:ext cx="5143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4325" y="5681206"/>
            <a:ext cx="5143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3449" y="5681206"/>
            <a:ext cx="5143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20024" y="5432117"/>
            <a:ext cx="5143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5</a:t>
            </a:r>
          </a:p>
        </p:txBody>
      </p:sp>
      <p:sp>
        <p:nvSpPr>
          <p:cNvPr id="17" name="Управляющая кнопка: домой 16">
            <a:hlinkClick r:id="rId12" action="ppaction://hlinksldjump" highlightClick="1"/>
          </p:cNvPr>
          <p:cNvSpPr/>
          <p:nvPr/>
        </p:nvSpPr>
        <p:spPr>
          <a:xfrm>
            <a:off x="11220450" y="6159073"/>
            <a:ext cx="904875" cy="621447"/>
          </a:xfrm>
          <a:prstGeom prst="actionButtonHome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519111" y="6314834"/>
            <a:ext cx="8963025" cy="369332"/>
          </a:xfrm>
          <a:prstGeom prst="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itchFamily="18" charset="0"/>
                <a:cs typeface="Times New Roman" pitchFamily="18" charset="0"/>
              </a:rPr>
              <a:t>( 1 правильный ответ = 1 балл. Максимальное количество баллов – 5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1081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2093341"/>
              </p:ext>
            </p:extLst>
          </p:nvPr>
        </p:nvGraphicFramePr>
        <p:xfrm>
          <a:off x="812800" y="542926"/>
          <a:ext cx="10579101" cy="6018848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3526367"/>
                <a:gridCol w="3526367"/>
                <a:gridCol w="3526367"/>
              </a:tblGrid>
              <a:tr h="1454944">
                <a:tc>
                  <a:txBody>
                    <a:bodyPr/>
                    <a:lstStyle/>
                    <a:p>
                      <a:pPr algn="ctr"/>
                      <a:r>
                        <a:rPr lang="ru-RU" sz="3600" dirty="0" smtClean="0">
                          <a:latin typeface="Times New Roman" pitchFamily="18" charset="0"/>
                          <a:cs typeface="Times New Roman" pitchFamily="18" charset="0"/>
                        </a:rPr>
                        <a:t>Аспект</a:t>
                      </a:r>
                      <a:endParaRPr lang="ru-RU" sz="3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dirty="0" smtClean="0">
                          <a:latin typeface="Times New Roman" pitchFamily="18" charset="0"/>
                          <a:cs typeface="Times New Roman" pitchFamily="18" charset="0"/>
                        </a:rPr>
                        <a:t>Европейский авангард</a:t>
                      </a:r>
                      <a:endParaRPr lang="ru-RU" sz="3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dirty="0" smtClean="0">
                          <a:latin typeface="Times New Roman" pitchFamily="18" charset="0"/>
                          <a:cs typeface="Times New Roman" pitchFamily="18" charset="0"/>
                        </a:rPr>
                        <a:t>Русский авангард</a:t>
                      </a:r>
                      <a:endParaRPr lang="ru-RU" sz="3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1454944">
                <a:tc>
                  <a:txBody>
                    <a:bodyPr/>
                    <a:lstStyle/>
                    <a:p>
                      <a:pPr algn="ctr"/>
                      <a:r>
                        <a:rPr lang="ru-RU" sz="2400" b="1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Хронологические рамки</a:t>
                      </a:r>
                      <a:endParaRPr lang="ru-RU" sz="24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Конец </a:t>
                      </a:r>
                      <a:r>
                        <a:rPr lang="en-US" sz="2400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XIX</a:t>
                      </a:r>
                      <a:r>
                        <a:rPr lang="ru-RU" sz="2400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– 1930-ые гг.</a:t>
                      </a:r>
                      <a:endParaRPr lang="ru-RU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Около 1908 – конец 1920-х</a:t>
                      </a:r>
                      <a:endParaRPr lang="ru-RU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1454944">
                <a:tc>
                  <a:txBody>
                    <a:bodyPr/>
                    <a:lstStyle/>
                    <a:p>
                      <a:pPr algn="ctr"/>
                      <a:r>
                        <a:rPr lang="ru-RU" sz="2400" b="1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Основные направления</a:t>
                      </a:r>
                      <a:endParaRPr lang="ru-RU" sz="24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Кубизм, футуризм, дадаизм, сюрреализм, абстракционизм, экспрессионизм</a:t>
                      </a:r>
                      <a:endParaRPr lang="ru-RU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Футуризм, супрематизм, конструктивизм, </a:t>
                      </a:r>
                      <a:r>
                        <a:rPr lang="ru-RU" sz="2400" kern="1200" dirty="0" err="1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лучизм</a:t>
                      </a:r>
                      <a:endParaRPr lang="ru-RU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1454944">
                <a:tc>
                  <a:txBody>
                    <a:bodyPr/>
                    <a:lstStyle/>
                    <a:p>
                      <a:pPr algn="ctr"/>
                      <a:r>
                        <a:rPr lang="ru-RU" sz="2400" b="1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Яркие представители</a:t>
                      </a:r>
                      <a:endParaRPr lang="ru-RU" sz="24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Пикассо, </a:t>
                      </a:r>
                      <a:r>
                        <a:rPr lang="ru-RU" sz="2400" kern="1200" dirty="0" err="1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Дюшан</a:t>
                      </a:r>
                      <a:r>
                        <a:rPr lang="ru-RU" sz="2400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, </a:t>
                      </a:r>
                      <a:r>
                        <a:rPr lang="ru-RU" sz="2400" kern="1200" dirty="0" err="1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Мондриан</a:t>
                      </a:r>
                      <a:r>
                        <a:rPr lang="ru-RU" sz="2400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, </a:t>
                      </a:r>
                      <a:r>
                        <a:rPr lang="ru-RU" sz="2400" kern="1200" dirty="0" err="1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Тцара</a:t>
                      </a:r>
                      <a:r>
                        <a:rPr lang="ru-RU" sz="2400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, </a:t>
                      </a:r>
                      <a:r>
                        <a:rPr lang="ru-RU" sz="2400" kern="1200" dirty="0" err="1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Маринетти</a:t>
                      </a:r>
                      <a:r>
                        <a:rPr lang="ru-RU" sz="2400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, </a:t>
                      </a:r>
                      <a:r>
                        <a:rPr lang="ru-RU" sz="2400" kern="1200" dirty="0" err="1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Кардинский</a:t>
                      </a:r>
                      <a:r>
                        <a:rPr lang="ru-RU" sz="2400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, Арт</a:t>
                      </a:r>
                      <a:endParaRPr lang="ru-RU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Малевич, Татлин, Лисицкий, Родченко, Маяковский, Хлебников, Попова</a:t>
                      </a:r>
                      <a:endParaRPr lang="ru-RU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Управляющая кнопка: домой 2">
            <a:hlinkClick r:id="rId2" action="ppaction://hlinksldjump" highlightClick="1"/>
          </p:cNvPr>
          <p:cNvSpPr/>
          <p:nvPr/>
        </p:nvSpPr>
        <p:spPr>
          <a:xfrm>
            <a:off x="11496675" y="-16728"/>
            <a:ext cx="695325" cy="540604"/>
          </a:xfrm>
          <a:prstGeom prst="actionButtonHome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4138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014694"/>
              </p:ext>
            </p:extLst>
          </p:nvPr>
        </p:nvGraphicFramePr>
        <p:xfrm>
          <a:off x="812800" y="542926"/>
          <a:ext cx="10579101" cy="5819776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3526367"/>
                <a:gridCol w="3526367"/>
                <a:gridCol w="3526367"/>
              </a:tblGrid>
              <a:tr h="14549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2000" b="1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Идеологическая основа</a:t>
                      </a:r>
                      <a:endParaRPr lang="ru-RU" sz="2000" b="1" kern="1200" dirty="0">
                        <a:solidFill>
                          <a:schemeClr val="dk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kern="1200" dirty="0" err="1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Антибуржуазность</a:t>
                      </a:r>
                      <a:r>
                        <a:rPr lang="ru-RU" sz="2000" b="0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, индивидуализм, критика войны, поиск нового языка искусства</a:t>
                      </a:r>
                      <a:endParaRPr lang="ru-RU" sz="2000" b="0" kern="1200" dirty="0">
                        <a:solidFill>
                          <a:schemeClr val="dk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2000" b="0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Революционный утопизм, коллективизм, вера в искусство как инструмент социальных перемен</a:t>
                      </a:r>
                      <a:endParaRPr lang="ru-RU" sz="2000" b="0" kern="1200" dirty="0">
                        <a:solidFill>
                          <a:schemeClr val="dk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14549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2000" b="1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Функция искусства</a:t>
                      </a:r>
                      <a:endParaRPr lang="ru-RU" sz="2000" b="1" kern="1200" dirty="0">
                        <a:solidFill>
                          <a:schemeClr val="dk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Эксперимент, провокация, духовное или философское осмысление</a:t>
                      </a:r>
                      <a:endParaRPr lang="ru-RU" sz="2000" b="0" kern="1200" dirty="0">
                        <a:solidFill>
                          <a:schemeClr val="dk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2000" b="0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Переустройство быта, производства, пропаганда, «производственное искусство»</a:t>
                      </a:r>
                      <a:endParaRPr lang="ru-RU" sz="2000" b="0" kern="1200" dirty="0">
                        <a:solidFill>
                          <a:schemeClr val="dk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14549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2000" b="1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Материалы и формы</a:t>
                      </a:r>
                      <a:endParaRPr lang="ru-RU" sz="2000" b="1" kern="1200" dirty="0">
                        <a:solidFill>
                          <a:schemeClr val="dk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Коллаж, готовые объекты, автоматическое письмо, абстракция</a:t>
                      </a:r>
                      <a:endParaRPr lang="ru-RU" sz="2000" b="0" kern="1200" dirty="0">
                        <a:solidFill>
                          <a:schemeClr val="dk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2000" b="0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Геометрическая абстракция, акцент на материале, конструкции, функциональность</a:t>
                      </a:r>
                      <a:endParaRPr lang="ru-RU" sz="2000" b="0" kern="1200" dirty="0">
                        <a:solidFill>
                          <a:schemeClr val="dk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14549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2000" b="1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Судьба движения</a:t>
                      </a:r>
                      <a:endParaRPr lang="ru-RU" sz="2000" b="1" kern="1200" dirty="0">
                        <a:solidFill>
                          <a:schemeClr val="dk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Эволюционировал в новые течения (сюрреализм – абстрактный экспрессионизм и др.)</a:t>
                      </a:r>
                      <a:endParaRPr lang="ru-RU" sz="2000" b="0" kern="1200" dirty="0">
                        <a:solidFill>
                          <a:schemeClr val="dk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2000" b="0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Подавлен официальной культурной политикой СССР </a:t>
                      </a:r>
                      <a:endParaRPr lang="ru-RU" sz="2000" b="0" kern="1200" dirty="0">
                        <a:solidFill>
                          <a:schemeClr val="dk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Управляющая кнопка: домой 2">
            <a:hlinkClick r:id="rId2" action="ppaction://hlinksldjump" highlightClick="1"/>
          </p:cNvPr>
          <p:cNvSpPr/>
          <p:nvPr/>
        </p:nvSpPr>
        <p:spPr>
          <a:xfrm>
            <a:off x="11496675" y="-16728"/>
            <a:ext cx="695325" cy="540604"/>
          </a:xfrm>
          <a:prstGeom prst="actionButtonHome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6196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Горизонтальный свиток 1"/>
          <p:cNvSpPr/>
          <p:nvPr/>
        </p:nvSpPr>
        <p:spPr>
          <a:xfrm>
            <a:off x="133350" y="-24288"/>
            <a:ext cx="4714875" cy="1225151"/>
          </a:xfrm>
          <a:prstGeom prst="horizontalScroll">
            <a:avLst/>
          </a:prstGeom>
          <a:solidFill>
            <a:schemeClr val="accent5">
              <a:lumMod val="20000"/>
              <a:lumOff val="80000"/>
              <a:alpha val="64000"/>
            </a:schemeClr>
          </a:solidFill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200024" y="203567"/>
            <a:ext cx="458152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b="1" i="1" dirty="0" smtClean="0">
                <a:latin typeface="Times New Roman" pitchFamily="18" charset="0"/>
                <a:cs typeface="Times New Roman" pitchFamily="18" charset="0"/>
              </a:rPr>
              <a:t>Задание 2</a:t>
            </a:r>
            <a:endParaRPr lang="ru-RU" sz="4400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199" y="65068"/>
            <a:ext cx="7086601" cy="1200329"/>
          </a:xfrm>
          <a:prstGeom prst="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2400" i="1" dirty="0">
                <a:latin typeface="Times New Roman" pitchFamily="18" charset="0"/>
                <a:cs typeface="Times New Roman" pitchFamily="18" charset="0"/>
              </a:rPr>
              <a:t>Определите, какие произведения относятся к европейскому авангарду, а какие – к русскому. Дайте своё название этим произведениям.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38300" y="5915025"/>
            <a:ext cx="10401300" cy="830997"/>
          </a:xfrm>
          <a:prstGeom prst="rect">
            <a:avLst/>
          </a:prstGeom>
          <a:noFill/>
          <a:ln w="28575"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2400" i="1" dirty="0">
                <a:latin typeface="Times New Roman" pitchFamily="18" charset="0"/>
                <a:cs typeface="Times New Roman" pitchFamily="18" charset="0"/>
              </a:rPr>
              <a:t>(Максимальное количество баллов – 10 (1 балл – за верное определение, 1 – за своё название и его аргументацию)</a:t>
            </a:r>
          </a:p>
        </p:txBody>
      </p:sp>
      <p:sp>
        <p:nvSpPr>
          <p:cNvPr id="6" name="Управляющая кнопка: домой 5">
            <a:hlinkClick r:id="rId2" action="ppaction://hlinksldjump" highlightClick="1"/>
          </p:cNvPr>
          <p:cNvSpPr/>
          <p:nvPr/>
        </p:nvSpPr>
        <p:spPr>
          <a:xfrm>
            <a:off x="133350" y="6124575"/>
            <a:ext cx="904875" cy="621447"/>
          </a:xfrm>
          <a:prstGeom prst="actionButtonHome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 descr="10 малоизвестных фактов о картине Пикассо «Старый гитарист»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74" y="1447165"/>
            <a:ext cx="2466975" cy="1705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Рисунок 7" descr="Ключевые образы России между революцией и войной • Arzamas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199" y="1447163"/>
            <a:ext cx="2035493" cy="2400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Рисунок 8" descr="Эль Лисицкий - Ленинская трибуна. Проект трибуны для площади, 1920:  Описание произведения | Артхив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3024" y="1447165"/>
            <a:ext cx="1733549" cy="24009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Рисунок 9" descr="Топ-15 самых известных картин Сальвадора Дали | Артхив"/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1650" y="3438525"/>
            <a:ext cx="2285999" cy="2266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Рисунок 10" descr="Топ-15 самых известных картин Сальвадора Дали | Артхив"/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8950" y="4079238"/>
            <a:ext cx="2924173" cy="1731011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/>
          <p:cNvSpPr txBox="1"/>
          <p:nvPr/>
        </p:nvSpPr>
        <p:spPr>
          <a:xfrm>
            <a:off x="133350" y="2647633"/>
            <a:ext cx="5143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ru-RU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376736" y="3342620"/>
            <a:ext cx="5143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1025" y="3324880"/>
            <a:ext cx="5143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3949" y="5181599"/>
            <a:ext cx="5143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62675" y="5287029"/>
            <a:ext cx="5143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055998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Горизонтальный свиток 1"/>
          <p:cNvSpPr/>
          <p:nvPr/>
        </p:nvSpPr>
        <p:spPr>
          <a:xfrm>
            <a:off x="133350" y="-24288"/>
            <a:ext cx="4714875" cy="1225151"/>
          </a:xfrm>
          <a:prstGeom prst="horizontalScroll">
            <a:avLst/>
          </a:prstGeom>
          <a:solidFill>
            <a:schemeClr val="accent5">
              <a:lumMod val="20000"/>
              <a:lumOff val="80000"/>
              <a:alpha val="64000"/>
            </a:schemeClr>
          </a:solidFill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200024" y="203567"/>
            <a:ext cx="458152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b="1" i="1" dirty="0" smtClean="0">
                <a:latin typeface="Times New Roman" pitchFamily="18" charset="0"/>
                <a:cs typeface="Times New Roman" pitchFamily="18" charset="0"/>
              </a:rPr>
              <a:t>Задание 3</a:t>
            </a:r>
            <a:endParaRPr lang="ru-RU" sz="4400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0" y="114300"/>
            <a:ext cx="6953250" cy="1015663"/>
          </a:xfrm>
          <a:prstGeom prst="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2000" i="1" dirty="0">
                <a:latin typeface="Times New Roman" pitchFamily="18" charset="0"/>
                <a:cs typeface="Times New Roman" pitchFamily="18" charset="0"/>
              </a:rPr>
              <a:t>Найдите 7 исторических терминов. Из их первых букв составьте ключевое слово. (Максимальное количество баллов – 8).</a:t>
            </a: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9833521"/>
              </p:ext>
            </p:extLst>
          </p:nvPr>
        </p:nvGraphicFramePr>
        <p:xfrm>
          <a:off x="333376" y="1200858"/>
          <a:ext cx="11515721" cy="5495216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720710"/>
                <a:gridCol w="720710"/>
                <a:gridCol w="720710"/>
                <a:gridCol w="719507"/>
                <a:gridCol w="719507"/>
                <a:gridCol w="719507"/>
                <a:gridCol w="719507"/>
                <a:gridCol w="719507"/>
                <a:gridCol w="719507"/>
                <a:gridCol w="719507"/>
                <a:gridCol w="719507"/>
                <a:gridCol w="719507"/>
                <a:gridCol w="719507"/>
                <a:gridCol w="719507"/>
                <a:gridCol w="719507"/>
                <a:gridCol w="719507"/>
              </a:tblGrid>
              <a:tr h="3434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</a:t>
                      </a:r>
                      <a:endParaRPr lang="ru-RU" sz="1100" dirty="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Т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Ц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З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Ц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</a:t>
                      </a:r>
                      <a:endParaRPr lang="ru-RU" sz="1100" dirty="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Я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Ж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У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Б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434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</a:t>
                      </a:r>
                      <a:endParaRPr lang="ru-RU" sz="1100" dirty="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М</a:t>
                      </a:r>
                      <a:endParaRPr lang="ru-RU" sz="1100" dirty="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</a:t>
                      </a:r>
                      <a:endParaRPr lang="ru-RU" sz="1100" dirty="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Р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М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Ы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М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Ж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Ц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Ь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У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434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Ш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М</a:t>
                      </a:r>
                      <a:endParaRPr lang="ru-RU" sz="1100" dirty="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М</a:t>
                      </a:r>
                      <a:endParaRPr lang="ru-RU" sz="1100" dirty="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Ч</a:t>
                      </a:r>
                      <a:endParaRPr lang="ru-RU" sz="1100" dirty="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Ч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У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Ь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У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У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Т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У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Р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434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М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Е</a:t>
                      </a:r>
                      <a:endParaRPr lang="ru-RU" sz="1100" dirty="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Е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Р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Ж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434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У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Л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Ю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</a:t>
                      </a:r>
                      <a:endParaRPr lang="ru-RU" sz="1100" dirty="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Т</a:t>
                      </a:r>
                      <a:endParaRPr lang="ru-RU" sz="1100" dirty="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Ц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Ы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М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Ы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У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434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Р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Е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Б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Ы</a:t>
                      </a:r>
                      <a:endParaRPr lang="ru-RU" sz="1100" dirty="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Е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Р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Ц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Б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Т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Ы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У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Ю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434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З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Р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М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Я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</a:t>
                      </a:r>
                      <a:endParaRPr lang="ru-RU" sz="1100" dirty="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Р</a:t>
                      </a:r>
                      <a:endParaRPr lang="ru-RU" sz="1100" dirty="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У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Ь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М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М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З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434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М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Б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М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Х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У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Ы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Я</a:t>
                      </a:r>
                      <a:endParaRPr lang="ru-RU" sz="1100" dirty="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Р</a:t>
                      </a:r>
                      <a:endParaRPr lang="ru-RU" sz="1100" dirty="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Т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Ф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Ю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434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Р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Ю</a:t>
                      </a:r>
                      <a:endParaRPr lang="ru-RU" sz="1100" dirty="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Ф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Р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Я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434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Я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Е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М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Р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У</a:t>
                      </a:r>
                      <a:endParaRPr lang="ru-RU" sz="1100" dirty="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Ю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Е</a:t>
                      </a:r>
                      <a:endParaRPr lang="ru-RU" sz="1100" dirty="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У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Р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Ы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Ж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434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М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Е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Ю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Ф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Ф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Е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Р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У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Е</a:t>
                      </a:r>
                      <a:endParaRPr lang="ru-RU" sz="1100" dirty="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Е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Ы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434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Ч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М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Э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Х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Ж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Ю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Р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Л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Т</a:t>
                      </a:r>
                      <a:endParaRPr lang="ru-RU" sz="1100" dirty="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М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434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Л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Е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Р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Ж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З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Ф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Р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М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Г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</a:t>
                      </a:r>
                      <a:endParaRPr lang="ru-RU" sz="1100" dirty="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</a:t>
                      </a:r>
                      <a:endParaRPr lang="ru-RU" sz="1100" dirty="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Т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434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Ю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Р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Е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Т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Е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Ц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Е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Х</a:t>
                      </a:r>
                      <a:endParaRPr lang="ru-RU" sz="1100" dirty="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Ю</a:t>
                      </a:r>
                      <a:endParaRPr lang="ru-RU" sz="1100" dirty="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434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Ы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Ь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Р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Л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Е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Ю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Б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Е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Ж</a:t>
                      </a:r>
                      <a:endParaRPr lang="ru-RU" sz="1100" dirty="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Е</a:t>
                      </a:r>
                      <a:endParaRPr lang="ru-RU" sz="1100" dirty="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434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Л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Е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У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У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Ж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</a:t>
                      </a:r>
                      <a:endParaRPr lang="ru-RU" sz="110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Т</a:t>
                      </a:r>
                      <a:endParaRPr lang="ru-RU" sz="1100" dirty="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</a:t>
                      </a:r>
                      <a:endParaRPr lang="ru-RU" sz="1100" dirty="0">
                        <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ln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271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Управляющая кнопка: домой 3">
            <a:hlinkClick r:id="rId2" action="ppaction://hlinksldjump" highlightClick="1"/>
          </p:cNvPr>
          <p:cNvSpPr/>
          <p:nvPr/>
        </p:nvSpPr>
        <p:spPr>
          <a:xfrm>
            <a:off x="11496674" y="6317396"/>
            <a:ext cx="695325" cy="540604"/>
          </a:xfrm>
          <a:prstGeom prst="actionButtonHome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Горизонтальный свиток 4"/>
          <p:cNvSpPr/>
          <p:nvPr/>
        </p:nvSpPr>
        <p:spPr>
          <a:xfrm>
            <a:off x="581025" y="1990725"/>
            <a:ext cx="10982325" cy="3400425"/>
          </a:xfrm>
          <a:prstGeom prst="horizontalScroll">
            <a:avLst/>
          </a:prstGeom>
          <a:solidFill>
            <a:schemeClr val="bg1"/>
          </a:solidFill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1266825" y="2906107"/>
            <a:ext cx="100203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i="1" dirty="0" smtClean="0">
                <a:latin typeface="Times New Roman" pitchFamily="18" charset="0"/>
                <a:cs typeface="Times New Roman" pitchFamily="18" charset="0"/>
              </a:rPr>
              <a:t>Как связаны авангард и полученное слово?</a:t>
            </a:r>
            <a:endParaRPr lang="ru-RU" sz="48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12106275" y="0"/>
            <a:ext cx="85725" cy="283845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5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5">
                  <a:lumMod val="60000"/>
                  <a:lumOff val="40000"/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 rot="5400000">
            <a:off x="10645377" y="-1377549"/>
            <a:ext cx="83346" cy="283845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5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5">
                  <a:lumMod val="60000"/>
                  <a:lumOff val="40000"/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 rot="5400000">
            <a:off x="1377552" y="5397102"/>
            <a:ext cx="83346" cy="283845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5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5">
                  <a:lumMod val="60000"/>
                  <a:lumOff val="40000"/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-1" y="3936204"/>
            <a:ext cx="85725" cy="283845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5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5">
                  <a:lumMod val="60000"/>
                  <a:lumOff val="40000"/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5766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550" y="342899"/>
            <a:ext cx="3397527" cy="50196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36550" y="5680590"/>
            <a:ext cx="3311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Эль Лисицкий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43375" y="342899"/>
            <a:ext cx="7848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Работал на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стыке супрематизма, конструктивизма, архитектуры, </a:t>
            </a:r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типографики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 и дизайна.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7250" y="1714500"/>
            <a:ext cx="706755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Главное в его </a:t>
            </a:r>
            <a:r>
              <a:rPr lang="ru-RU" sz="2800" b="1" dirty="0" smtClean="0"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творчестве</a:t>
            </a:r>
          </a:p>
          <a:p>
            <a:endParaRPr lang="ru-RU" sz="2800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- Создатель серии ПРОУН — переход от живописи к архитектуре.  </a:t>
            </a:r>
          </a:p>
          <a:p>
            <a:pPr algn="ctr"/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- Мастер плаката и визуальной пропаганды («Клином красным бей белых»).  </a:t>
            </a:r>
          </a:p>
          <a:p>
            <a:pPr algn="ctr"/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- Один из первых художников, кто работал как современный дизайнер: шрифт, композиция, верстка, экспозиции.  </a:t>
            </a:r>
          </a:p>
          <a:p>
            <a:pPr algn="ctr"/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- Влияние на </a:t>
            </a:r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Баухаус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De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Stijl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 и всю графику XX века. </a:t>
            </a:r>
          </a:p>
        </p:txBody>
      </p:sp>
    </p:spTree>
    <p:extLst>
      <p:ext uri="{BB962C8B-B14F-4D97-AF65-F5344CB8AC3E}">
        <p14:creationId xmlns:p14="http://schemas.microsoft.com/office/powerpoint/2010/main" val="1126195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Конструктор. Автопортрет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75" y="276225"/>
            <a:ext cx="6257925" cy="62579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7572375" y="2805022"/>
            <a:ext cx="38385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i="1" dirty="0" smtClean="0">
                <a:latin typeface="Times New Roman" pitchFamily="18" charset="0"/>
                <a:cs typeface="Times New Roman" pitchFamily="18" charset="0"/>
              </a:rPr>
              <a:t>«Конструктор. Автопортрет»</a:t>
            </a:r>
            <a:endParaRPr lang="ru-RU" sz="3600" i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442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50" y="428625"/>
            <a:ext cx="6076950" cy="60769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7572375" y="3067733"/>
            <a:ext cx="3838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i="1" dirty="0" smtClean="0">
                <a:latin typeface="Times New Roman" pitchFamily="18" charset="0"/>
                <a:cs typeface="Times New Roman" pitchFamily="18" charset="0"/>
              </a:rPr>
              <a:t>(Без названия)</a:t>
            </a:r>
            <a:endParaRPr lang="ru-RU" sz="3600" i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0236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Этюд проуна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0700" y="314324"/>
            <a:ext cx="6248401" cy="62484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47700" y="3115358"/>
            <a:ext cx="3838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i="1" dirty="0" smtClean="0">
                <a:latin typeface="Times New Roman" pitchFamily="18" charset="0"/>
                <a:cs typeface="Times New Roman" pitchFamily="18" charset="0"/>
              </a:rPr>
              <a:t>«Этюд </a:t>
            </a:r>
            <a:r>
              <a:rPr lang="ru-RU" sz="3600" i="1" dirty="0" err="1" smtClean="0">
                <a:latin typeface="Times New Roman" pitchFamily="18" charset="0"/>
                <a:cs typeface="Times New Roman" pitchFamily="18" charset="0"/>
              </a:rPr>
              <a:t>проуна</a:t>
            </a:r>
            <a:r>
              <a:rPr lang="ru-RU" sz="3600" i="1" dirty="0" smtClean="0">
                <a:latin typeface="Times New Roman" pitchFamily="18" charset="0"/>
                <a:cs typeface="Times New Roman" pitchFamily="18" charset="0"/>
              </a:rPr>
              <a:t>»</a:t>
            </a:r>
            <a:endParaRPr lang="ru-RU" sz="3600" i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2887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974" y="409575"/>
            <a:ext cx="5962649" cy="59626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7572375" y="3067733"/>
            <a:ext cx="3838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i="1" dirty="0" smtClean="0">
                <a:latin typeface="Times New Roman" pitchFamily="18" charset="0"/>
                <a:cs typeface="Times New Roman" pitchFamily="18" charset="0"/>
              </a:rPr>
              <a:t>«</a:t>
            </a:r>
            <a:r>
              <a:rPr lang="ru-RU" sz="3600" i="1" dirty="0" err="1" smtClean="0">
                <a:latin typeface="Times New Roman" pitchFamily="18" charset="0"/>
                <a:cs typeface="Times New Roman" pitchFamily="18" charset="0"/>
              </a:rPr>
              <a:t>Проун</a:t>
            </a:r>
            <a:r>
              <a:rPr lang="ru-RU" sz="3600" i="1" dirty="0" smtClean="0">
                <a:latin typeface="Times New Roman" pitchFamily="18" charset="0"/>
                <a:cs typeface="Times New Roman" pitchFamily="18" charset="0"/>
              </a:rPr>
              <a:t>»</a:t>
            </a:r>
            <a:endParaRPr lang="ru-RU" sz="3600" i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6544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https://artchive.ru/res/media/img/ox400/work/abb/595538@2x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595312"/>
            <a:ext cx="7620000" cy="56292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55575" y="2809784"/>
            <a:ext cx="38385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i="1" dirty="0" smtClean="0">
                <a:latin typeface="Times New Roman" pitchFamily="18" charset="0"/>
                <a:cs typeface="Times New Roman" pitchFamily="18" charset="0"/>
              </a:rPr>
              <a:t>«Клином красным бей белых»</a:t>
            </a:r>
            <a:endParaRPr lang="ru-RU" sz="3600" i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04324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Горизонтальный свиток 1"/>
          <p:cNvSpPr/>
          <p:nvPr/>
        </p:nvSpPr>
        <p:spPr>
          <a:xfrm>
            <a:off x="133350" y="-24288"/>
            <a:ext cx="11925300" cy="1605438"/>
          </a:xfrm>
          <a:prstGeom prst="horizontalScroll">
            <a:avLst/>
          </a:prstGeom>
          <a:solidFill>
            <a:schemeClr val="accent5">
              <a:lumMod val="20000"/>
              <a:lumOff val="80000"/>
              <a:alpha val="64000"/>
            </a:schemeClr>
          </a:solidFill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200023" y="241697"/>
            <a:ext cx="117919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000" b="1" i="1" dirty="0" smtClean="0">
                <a:latin typeface="Times New Roman" pitchFamily="18" charset="0"/>
                <a:cs typeface="Times New Roman" pitchFamily="18" charset="0"/>
              </a:rPr>
              <a:t>Витебский период</a:t>
            </a:r>
            <a:endParaRPr lang="ru-RU" sz="6000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52422" y="1657350"/>
            <a:ext cx="589597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Лисицкий провёл часть юности в Витебске, где в 13 лет попал в художественную школу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Юделя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Пэна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— ту же, где учился Марк Шагал.  </a:t>
            </a:r>
          </a:p>
          <a:p>
            <a:pPr algn="ctr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Это стало его первым серьёзным художественным образованием.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29225" y="3811012"/>
            <a:ext cx="676274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До революции Лисицкий активно работал над еврейской тематикой, иллюстрировал книги на идише, участвовал в этнографических экспедициях, изучал росписи синагог.  </a:t>
            </a:r>
          </a:p>
          <a:p>
            <a:pPr algn="ctr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Именно в Витебске сформировался его интерес к национальной культуре и декоративной плоскостности, что позже трансформировалось в супрематизм. </a:t>
            </a:r>
          </a:p>
        </p:txBody>
      </p:sp>
    </p:spTree>
    <p:extLst>
      <p:ext uri="{BB962C8B-B14F-4D97-AF65-F5344CB8AC3E}">
        <p14:creationId xmlns:p14="http://schemas.microsoft.com/office/powerpoint/2010/main" val="3181739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Горизонтальный свиток 1"/>
          <p:cNvSpPr/>
          <p:nvPr/>
        </p:nvSpPr>
        <p:spPr>
          <a:xfrm>
            <a:off x="133350" y="-24288"/>
            <a:ext cx="4714875" cy="1225151"/>
          </a:xfrm>
          <a:prstGeom prst="horizontalScroll">
            <a:avLst/>
          </a:prstGeom>
          <a:solidFill>
            <a:schemeClr val="accent5">
              <a:lumMod val="20000"/>
              <a:lumOff val="80000"/>
              <a:alpha val="64000"/>
            </a:schemeClr>
          </a:solidFill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200024" y="203567"/>
            <a:ext cx="458152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b="1" i="1" dirty="0" smtClean="0">
                <a:latin typeface="Times New Roman" pitchFamily="18" charset="0"/>
                <a:cs typeface="Times New Roman" pitchFamily="18" charset="0"/>
              </a:rPr>
              <a:t>Задание 4</a:t>
            </a:r>
            <a:endParaRPr lang="ru-RU" sz="4400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0" y="114300"/>
            <a:ext cx="6953250" cy="707886"/>
          </a:xfrm>
          <a:prstGeom prst="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2000" i="1" dirty="0">
                <a:latin typeface="Times New Roman" pitchFamily="18" charset="0"/>
                <a:cs typeface="Times New Roman" pitchFamily="18" charset="0"/>
              </a:rPr>
              <a:t>Ответьте на вопросы. Из первых букв ответов составьте имя и фамилию исторической личности.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0024" y="1237417"/>
            <a:ext cx="5829301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Clr>
                <a:schemeClr val="accent5">
                  <a:lumMod val="75000"/>
                </a:schemeClr>
              </a:buClr>
              <a:buSzPct val="145000"/>
              <a:buFont typeface="Arial" pitchFamily="34" charset="0"/>
              <a:buChar char="•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Включение Австрии в состав Германии,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состоявшийся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в марте 1938 года –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…</a:t>
            </a:r>
          </a:p>
          <a:p>
            <a:pPr marL="342900" lvl="0" indent="-342900">
              <a:buClr>
                <a:schemeClr val="accent5">
                  <a:lumMod val="75000"/>
                </a:schemeClr>
              </a:buClr>
              <a:buSzPct val="145000"/>
              <a:buFont typeface="Arial" pitchFamily="34" charset="0"/>
              <a:buChar char="•"/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Clr>
                <a:schemeClr val="accent5">
                  <a:lumMod val="75000"/>
                </a:schemeClr>
              </a:buClr>
              <a:buSzPct val="145000"/>
              <a:buFont typeface="Arial" pitchFamily="34" charset="0"/>
              <a:buChar char="•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Комплексный процесс международной интеграции, обусловленный необходимостью решения обострившихся мировых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вопросов.</a:t>
            </a:r>
          </a:p>
          <a:p>
            <a:pPr marL="342900" lvl="0" indent="-342900">
              <a:buClr>
                <a:schemeClr val="accent5">
                  <a:lumMod val="75000"/>
                </a:schemeClr>
              </a:buClr>
              <a:buSzPct val="145000"/>
              <a:buFont typeface="Arial" pitchFamily="34" charset="0"/>
              <a:buChar char="•"/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Clr>
                <a:schemeClr val="accent5">
                  <a:lumMod val="75000"/>
                </a:schemeClr>
              </a:buClr>
              <a:buSzPct val="145000"/>
              <a:buFont typeface="Arial" pitchFamily="34" charset="0"/>
              <a:buChar char="•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Коренной и резкий переворот в общественно-политических отношениях, насильственным путём приводящий к смене общественного строя. </a:t>
            </a:r>
          </a:p>
          <a:p>
            <a:pPr marL="342900" lvl="0" indent="-342900">
              <a:buClr>
                <a:schemeClr val="accent5">
                  <a:lumMod val="75000"/>
                </a:schemeClr>
              </a:buClr>
              <a:buSzPct val="145000"/>
              <a:buFont typeface="Arial" pitchFamily="34" charset="0"/>
              <a:buChar char="•"/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Clr>
                <a:schemeClr val="accent5">
                  <a:lumMod val="75000"/>
                </a:schemeClr>
              </a:buClr>
              <a:buSzPct val="145000"/>
              <a:buFont typeface="Arial" pitchFamily="34" charset="0"/>
              <a:buChar char="•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Идеология, проповедующая национальное превосходство и ненависть к другим народам. </a:t>
            </a:r>
          </a:p>
          <a:p>
            <a:pPr marL="342900" lvl="0" indent="-342900">
              <a:buClr>
                <a:schemeClr val="accent5">
                  <a:lumMod val="75000"/>
                </a:schemeClr>
              </a:buClr>
              <a:buSzPct val="145000"/>
              <a:buFont typeface="Arial" pitchFamily="34" charset="0"/>
              <a:buChar char="•"/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Clr>
                <a:schemeClr val="accent5">
                  <a:lumMod val="75000"/>
                </a:schemeClr>
              </a:buClr>
              <a:buSzPct val="145000"/>
              <a:buFont typeface="Arial" pitchFamily="34" charset="0"/>
              <a:buChar char="•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Форма правления, при которой верховная власть принадлежит одному человеку. </a:t>
            </a:r>
          </a:p>
          <a:p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6238874" y="1178151"/>
            <a:ext cx="5743575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5">
                  <a:lumMod val="75000"/>
                </a:schemeClr>
              </a:buClr>
              <a:buSzPct val="145000"/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Clr>
                <a:schemeClr val="accent5">
                  <a:lumMod val="75000"/>
                </a:schemeClr>
              </a:buClr>
              <a:buSzPct val="145000"/>
              <a:buFont typeface="Arial" pitchFamily="34" charset="0"/>
              <a:buChar char="•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Форма феодального государства с неограниченной властью монарха. </a:t>
            </a:r>
          </a:p>
          <a:p>
            <a:pPr marL="342900" indent="-342900">
              <a:buClr>
                <a:schemeClr val="accent5">
                  <a:lumMod val="75000"/>
                </a:schemeClr>
              </a:buClr>
              <a:buSzPct val="145000"/>
              <a:buFont typeface="Arial" pitchFamily="34" charset="0"/>
              <a:buChar char="•"/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Clr>
                <a:schemeClr val="accent5">
                  <a:lumMod val="75000"/>
                </a:schemeClr>
              </a:buClr>
              <a:buSzPct val="145000"/>
              <a:buFont typeface="Arial" pitchFamily="34" charset="0"/>
              <a:buChar char="•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Часть войска, движущаяся впереди главных сил. </a:t>
            </a:r>
          </a:p>
          <a:p>
            <a:pPr marL="342900" indent="-342900">
              <a:buClr>
                <a:schemeClr val="accent5">
                  <a:lumMod val="75000"/>
                </a:schemeClr>
              </a:buClr>
              <a:buSzPct val="145000"/>
              <a:buFont typeface="Arial" pitchFamily="34" charset="0"/>
              <a:buChar char="•"/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Clr>
                <a:schemeClr val="accent5">
                  <a:lumMod val="75000"/>
                </a:schemeClr>
              </a:buClr>
              <a:buSzPct val="145000"/>
              <a:buFont typeface="Arial" pitchFamily="34" charset="0"/>
              <a:buChar char="•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Общественно-экономическая формация, основанная на частной собственности. </a:t>
            </a:r>
          </a:p>
          <a:p>
            <a:pPr marL="342900" indent="-342900">
              <a:buClr>
                <a:schemeClr val="accent5">
                  <a:lumMod val="75000"/>
                </a:schemeClr>
              </a:buClr>
              <a:buSzPct val="145000"/>
              <a:buFont typeface="Arial" pitchFamily="34" charset="0"/>
              <a:buChar char="•"/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Clr>
                <a:schemeClr val="accent5">
                  <a:lumMod val="75000"/>
                </a:schemeClr>
              </a:buClr>
              <a:buSzPct val="145000"/>
              <a:buFont typeface="Arial" pitchFamily="34" charset="0"/>
              <a:buChar char="•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Программа передачи США союзникам во Второй мировой войне техники, оружия и материалов. </a:t>
            </a:r>
          </a:p>
          <a:p>
            <a:endParaRPr lang="ru-RU" sz="1600" dirty="0"/>
          </a:p>
        </p:txBody>
      </p:sp>
      <p:sp>
        <p:nvSpPr>
          <p:cNvPr id="8" name="Управляющая кнопка: домой 7">
            <a:hlinkClick r:id="rId2" action="ppaction://hlinksldjump" highlightClick="1"/>
          </p:cNvPr>
          <p:cNvSpPr/>
          <p:nvPr/>
        </p:nvSpPr>
        <p:spPr>
          <a:xfrm>
            <a:off x="11496674" y="6317396"/>
            <a:ext cx="695325" cy="540604"/>
          </a:xfrm>
          <a:prstGeom prst="actionButtonHome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5411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425" y="333376"/>
            <a:ext cx="4330700" cy="56299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917575" y="6150410"/>
            <a:ext cx="3311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Марк Шагал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53050" y="333376"/>
            <a:ext cx="6334125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Главное в его </a:t>
            </a:r>
            <a:r>
              <a:rPr lang="ru-RU" sz="2800" b="1" dirty="0" smtClean="0"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искусстве</a:t>
            </a:r>
          </a:p>
          <a:p>
            <a:pPr algn="ctr"/>
            <a:endParaRPr lang="ru-RU" sz="2800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- Поэтическая фантазия: летающие фигуры, перевёрнутые пространства, символы любви и памяти.  </a:t>
            </a:r>
          </a:p>
          <a:p>
            <a:pPr algn="ctr"/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- Еврейская тема: жизнь местечка, свадьбы, музыканты, библейские сюжеты.  </a:t>
            </a:r>
          </a:p>
          <a:p>
            <a:pPr algn="ctr"/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- Цвет как эмоция: насыщенные, вибрирующие цвета, создающие ощущение сна.  </a:t>
            </a:r>
          </a:p>
          <a:p>
            <a:pPr algn="ctr"/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- Слияние традиции и модернизма: влияние фовизма, кубизма, но с сохранением личной мифологии. </a:t>
            </a:r>
          </a:p>
        </p:txBody>
      </p:sp>
    </p:spTree>
    <p:extLst>
      <p:ext uri="{BB962C8B-B14F-4D97-AF65-F5344CB8AC3E}">
        <p14:creationId xmlns:p14="http://schemas.microsoft.com/office/powerpoint/2010/main" val="1516477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4269" y="266699"/>
            <a:ext cx="3927937" cy="58864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242474" y="6281020"/>
            <a:ext cx="3311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Юдель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Пэн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1950" y="578434"/>
            <a:ext cx="70961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Основатель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витебской художественной школы, первый учитель Шагала и один из тех, кто дал фундамент Лисицкому.  </a:t>
            </a:r>
          </a:p>
          <a:p>
            <a:pPr algn="ctr"/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Он обучал бедных еврейских детей бесплатно, создавая среду, где могли вырасти будущие авангардисты.  </a:t>
            </a:r>
          </a:p>
          <a:p>
            <a:pPr algn="ctr"/>
            <a:endParaRPr lang="ru-RU" sz="2800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ru-RU" sz="2800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Пэн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 считается «отцом еврейского художественного возрождения» — именно он сформировал поколение, куда вошли Шагал, Лисицкий, Чашник, </a:t>
            </a:r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Задкин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 и др. </a:t>
            </a:r>
          </a:p>
        </p:txBody>
      </p:sp>
    </p:spTree>
    <p:extLst>
      <p:ext uri="{BB962C8B-B14F-4D97-AF65-F5344CB8AC3E}">
        <p14:creationId xmlns:p14="http://schemas.microsoft.com/office/powerpoint/2010/main" val="1769238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Горизонтальный свиток 1"/>
          <p:cNvSpPr/>
          <p:nvPr/>
        </p:nvSpPr>
        <p:spPr>
          <a:xfrm>
            <a:off x="133350" y="-24288"/>
            <a:ext cx="4714875" cy="1225151"/>
          </a:xfrm>
          <a:prstGeom prst="horizontalScroll">
            <a:avLst/>
          </a:prstGeom>
          <a:solidFill>
            <a:schemeClr val="accent5">
              <a:lumMod val="20000"/>
              <a:lumOff val="80000"/>
              <a:alpha val="64000"/>
            </a:schemeClr>
          </a:solidFill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200024" y="203567"/>
            <a:ext cx="458152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b="1" i="1" dirty="0" smtClean="0">
                <a:latin typeface="Times New Roman" pitchFamily="18" charset="0"/>
                <a:cs typeface="Times New Roman" pitchFamily="18" charset="0"/>
              </a:rPr>
              <a:t>Задание </a:t>
            </a:r>
            <a:r>
              <a:rPr lang="ru-RU" sz="4400" b="1" i="1" dirty="0">
                <a:latin typeface="Times New Roman" pitchFamily="18" charset="0"/>
                <a:cs typeface="Times New Roman" pitchFamily="18" charset="0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5776" y="2533650"/>
            <a:ext cx="11401424" cy="2554545"/>
          </a:xfrm>
          <a:prstGeom prst="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4000" i="1" dirty="0">
                <a:latin typeface="Times New Roman" pitchFamily="18" charset="0"/>
                <a:cs typeface="Times New Roman" pitchFamily="18" charset="0"/>
              </a:rPr>
              <a:t>На основе всего изученного в ходе </a:t>
            </a:r>
            <a:r>
              <a:rPr lang="ru-RU" sz="4000" i="1" dirty="0" err="1">
                <a:latin typeface="Times New Roman" pitchFamily="18" charset="0"/>
                <a:cs typeface="Times New Roman" pitchFamily="18" charset="0"/>
              </a:rPr>
              <a:t>квеста</a:t>
            </a:r>
            <a:r>
              <a:rPr lang="ru-RU" sz="4000" i="1" dirty="0">
                <a:latin typeface="Times New Roman" pitchFamily="18" charset="0"/>
                <a:cs typeface="Times New Roman" pitchFamily="18" charset="0"/>
              </a:rPr>
              <a:t>, создайте своё авангардное произведение (1 от команды), дайте ему название и презентуйте. (Максимальное количество баллов – 9 ).</a:t>
            </a:r>
          </a:p>
        </p:txBody>
      </p:sp>
      <p:sp>
        <p:nvSpPr>
          <p:cNvPr id="8" name="Управляющая кнопка: домой 7">
            <a:hlinkClick r:id="rId2" action="ppaction://hlinksldjump" highlightClick="1"/>
          </p:cNvPr>
          <p:cNvSpPr/>
          <p:nvPr/>
        </p:nvSpPr>
        <p:spPr>
          <a:xfrm>
            <a:off x="11496675" y="6317396"/>
            <a:ext cx="695325" cy="540604"/>
          </a:xfrm>
          <a:prstGeom prst="actionButtonHome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8019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7000"/>
                    </a14:imgEffect>
                    <a14:imgEffect>
                      <a14:saturation sat="5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1" y="-2666999"/>
            <a:ext cx="6857999" cy="12192001"/>
          </a:xfrm>
          <a:prstGeom prst="rect">
            <a:avLst/>
          </a:prstGeom>
          <a:effectLst>
            <a:outerShdw blurRad="50800" dist="50800" dir="5400000" sx="1000" sy="1000" algn="ctr" rotWithShape="0">
              <a:srgbClr val="000000">
                <a:alpha val="94000"/>
              </a:srgbClr>
            </a:outerShdw>
          </a:effectLst>
        </p:spPr>
      </p:pic>
      <p:sp>
        <p:nvSpPr>
          <p:cNvPr id="4" name="Прямоугольник 3"/>
          <p:cNvSpPr/>
          <p:nvPr/>
        </p:nvSpPr>
        <p:spPr>
          <a:xfrm>
            <a:off x="0" y="2543175"/>
            <a:ext cx="12192000" cy="191452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0" y="2551838"/>
            <a:ext cx="12192000" cy="19389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6000" b="1" i="1" cap="none" spc="0" dirty="0" smtClean="0">
                <a:ln w="17780" cmpd="sng">
                  <a:solidFill>
                    <a:schemeClr val="tx1">
                      <a:lumMod val="75000"/>
                      <a:lumOff val="25000"/>
                    </a:schemeClr>
                  </a:solidFill>
                  <a:prstDash val="solid"/>
                  <a:miter lim="800000"/>
                </a:ln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Витебский авангардный лабиринт </a:t>
            </a:r>
          </a:p>
          <a:p>
            <a:pPr algn="ctr"/>
            <a:r>
              <a:rPr lang="ru-RU" sz="6000" b="1" i="1" cap="none" spc="0" dirty="0" smtClean="0">
                <a:ln w="17780" cmpd="sng">
                  <a:solidFill>
                    <a:schemeClr val="tx1">
                      <a:lumMod val="75000"/>
                      <a:lumOff val="25000"/>
                    </a:schemeClr>
                  </a:solidFill>
                  <a:prstDash val="solid"/>
                  <a:miter lim="800000"/>
                </a:ln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Эля Лисицкого</a:t>
            </a:r>
            <a:endParaRPr lang="ru-RU" sz="6000" b="1" i="1" cap="none" spc="0" dirty="0">
              <a:ln w="17780" cmpd="sng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800000"/>
              </a:ln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3485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Другая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AD698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570</TotalTime>
  <Words>1581</Words>
  <Application>Microsoft Office PowerPoint</Application>
  <PresentationFormat>Произвольный</PresentationFormat>
  <Paragraphs>439</Paragraphs>
  <Slides>32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32</vt:i4>
      </vt:variant>
    </vt:vector>
  </HeadingPairs>
  <TitlesOfParts>
    <vt:vector size="33" baseType="lpstr"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0</dc:creator>
  <cp:lastModifiedBy>User</cp:lastModifiedBy>
  <cp:revision>40</cp:revision>
  <dcterms:created xsi:type="dcterms:W3CDTF">2023-12-21T10:55:30Z</dcterms:created>
  <dcterms:modified xsi:type="dcterms:W3CDTF">2026-02-19T20:11:53Z</dcterms:modified>
</cp:coreProperties>
</file>